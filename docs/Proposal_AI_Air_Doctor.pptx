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-1097280"/>
            <a:ext cx="4114800" cy="4114800"/>
          </a:xfrm>
          <a:prstGeom prst="ellipse">
            <a:avLst/>
          </a:prstGeom>
          <a:solidFill>
            <a:srgbClr val="22D3EE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3291840"/>
            <a:ext cx="2926080" cy="2926080"/>
          </a:xfrm>
          <a:prstGeom prst="ellipse">
            <a:avLst/>
          </a:prstGeom>
          <a:solidFill>
            <a:srgbClr val="A78BFA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80960" y="4480560"/>
            <a:ext cx="1463040" cy="1463040"/>
          </a:xfrm>
          <a:prstGeom prst="ellipse">
            <a:avLst/>
          </a:prstGeom>
          <a:solidFill>
            <a:srgbClr val="34D399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FINAL PROJECT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9144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60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AI Air Doctor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9144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結合 IoT 空品數據與環境醫學知識的
個人化空氣品質健康代理人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51960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480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Agent  +  Domain Knowledge  +  Data Analytics  +  Real-World Application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035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組員: 7115093066_楊禾睿、7115093063_徐崇皓、7115064183_謝秉樺、7115064202_譚人傑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課程: 物聯網與智慧系統應用專題    指導教授: 陳煥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研究動機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空氣污染是全球第二大早逝風險因子 (WHO &amp; HEI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790 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2023 年全球
空污致死人數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1 /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全球每 8 位死者
就有 1 位與空污有關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86%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空污死亡來自心血管、
中風與呼吸道慢性病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39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39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F87171"/>
                </a:solidFill>
                <a:latin typeface="Microsoft JhengHei"/>
                <a:ea typeface="Microsoft JhengHei"/>
                <a:cs typeface="Microsoft JhengHei"/>
              </a:rPr>
              <a:t>No.2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僅次於高血壓的
全球第二大早逝風險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069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資料來源: Health Effects Institute, State of Global Air 2025 &amp; The Lancet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572000"/>
            <a:ext cx="10881360" cy="155448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709160"/>
            <a:ext cx="1042416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台灣情境挑戰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西半部受工業排放與秋冬東北季風境外傳輸雙重影響，中央山脈背風面常引發顯著逆溫滯留與弱風沉降；中南部頻繁出現 PM2.5 紅色警戒，對全台超過 200 萬氣喘患者、長者與兒童造成重大健康威脅。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問題定義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民眾真正想問的，不是「AQI 多少」，而是「我該怎麼做」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5120640" cy="1463040"/>
          </a:xfrm>
          <a:prstGeom prst="roundRect">
            <a:avLst/>
          </a:prstGeom>
          <a:solidFill>
            <a:srgbClr val="1E2B4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4754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💬 使用者提問情境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48840"/>
            <a:ext cx="47548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「我有慢性氣喘，明天早上 7 點
想去大安森林公園跑步，可以嗎？」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回答這個問題，系統必須同時具備四大支柱: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794760"/>
            <a:ext cx="73152" cy="4754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840480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① 即時微環境感測 (環境部標準站 + Civil IoT 微型感測)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61688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361688"/>
            <a:ext cx="73152" cy="47548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407408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② 24h 前瞻氣象預測 (風速、逆溫潛勢、濕度預報)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928616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928616"/>
            <a:ext cx="73152" cy="47548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974336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③ 個人健康檔案換算 (運動換氣量加權劑量計算)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495544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495544"/>
            <a:ext cx="73152" cy="47548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541264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④ 臨床環境醫學指引 (WHO 2021 與台灣 AQI 臨床對策)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217920" y="1600200"/>
          <a:ext cx="5349239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691640"/>
                <a:gridCol w="1874519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現有方案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能做到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做不到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空品 App
(環境即時通)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顯示即時單點數值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 無個人化建議與成因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 預測研究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預測未來數值矩陣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 缺乏語意解釋與行動處方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一般 LLM
(ChatGPT)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自然語言對話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 無即時數據、易生醫療幻覺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近期空品 Agent 研究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LLM + 政策資料分析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 偏宏觀政策、缺乏個人化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文獻回顧 Related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½ AI Technology + ½ Domain Know-how (2025–2026 前沿研究)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48640"/>
                <a:gridCol w="1645920"/>
                <a:gridCol w="1828800"/>
                <a:gridCol w="1463040"/>
                <a:gridCol w="1463040"/>
                <a:gridCol w="1920240"/>
                <a:gridCol w="1645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Ref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Year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Problem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Method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Domain Knowledge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Dataset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Findings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Limitation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[9]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野火空品分析與政策研擬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Instructor-Worker Agent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野火煙霧、公衛分級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 LA Wildfire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自主起草政府通報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偏宏觀政策無個人化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[10]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感測數據非專業民眾難懂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LLM + MCP 介面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室內 PM/CO₂ 毒理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室內 IoT 序列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數據轉行動指引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缺乏未來時間預測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[11]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複雜地形 PM2.5 高精預測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CNN-LSTM 混合模型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風向正交分解、地形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台灣環境部 3 年站點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顯著改善風場預測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純數值輸出無互動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[12]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極端高污染突發事件預警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Transformer + 重採樣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沙塵時空傳輸特徵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東亞大氣監測網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改善極值預測敏感度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缺少氣象因果解釋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[15]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即時 AQI 與運動健康建議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Multi-Agent 框架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運動生理換氣係數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開源 IoT 感測網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有效平衡運動與空污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醫學知識庫缺乏校驗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074920"/>
            <a:ext cx="5394960" cy="11430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074920"/>
            <a:ext cx="5394960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2578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AI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33288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CNN-LSTM / Transformer 時序預測 · XGBoost · SHAP 可解釋 · ReAct Agent · RAG 檢索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074920"/>
            <a:ext cx="5394960" cy="11430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5074920"/>
            <a:ext cx="539496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52578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Domain Knowledge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733288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WHO 2021 指引 · 台灣 AQI 六級 · 暴露換氣生理學 · 輻射逆溫與光化反應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研究缺口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Existing Research → Limitations → Research Gap → Our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1600200"/>
            <a:ext cx="2743200" cy="685800"/>
          </a:xfrm>
          <a:prstGeom prst="homePlat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Existing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PM2.5 預測模型 (LSTM)
LLM 空品代理人 (政策)</a:t>
            </a:r>
          </a:p>
        </p:txBody>
      </p:sp>
      <p:sp>
        <p:nvSpPr>
          <p:cNvPr id="10" name="Chevron 9"/>
          <p:cNvSpPr/>
          <p:nvPr/>
        </p:nvSpPr>
        <p:spPr>
          <a:xfrm>
            <a:off x="3383280" y="1600200"/>
            <a:ext cx="2743200" cy="685800"/>
          </a:xfrm>
          <a:prstGeom prst="chevron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預測只輸出數字黑盒子
Agent 缺乏即時感測與個人化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7920" y="1600200"/>
            <a:ext cx="2743200" cy="685800"/>
          </a:xfrm>
          <a:prstGeom prst="chevron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Research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缺少整合即時 IoT + 24h 預測 +
環境醫學 RAG 的個人化 Agent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9052560" y="1600200"/>
            <a:ext cx="2743200" cy="685800"/>
          </a:xfrm>
          <a:prstGeom prst="chevron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Our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AI Air Doctor
領域智慧代理人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52044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55448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核心能力矩陣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空品 App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 預測模型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一般 LLM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近期空品 Agent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Air Doctor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即時多源 IoT 數據 (環境部 + Civil IoT)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24h 機器學習污染趨勢預測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SHAP 大氣特徵歸因 (逆溫/風速解釋)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環境醫學臨床指引 (WHO / AQI RAG)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 易生幻覺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 (100% 來源回溯)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個人健康檔案與運動暴露換算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 (係數加權)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領域深度研究：五大專家核心思維 (佔比 20%)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大氣科學與環境醫學專家普遍認同之 5 Core Mindsets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0020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1. 暴露劑量 ≠ 環境濃度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2024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人體吸收量取決於呼吸換氣量與暴露時間；跑步換氣量增加 5-8 倍，沉積劑量暴增。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645919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1719072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Agent 引入運動係數加權評估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41448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441448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532888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2. 敏感族群無安全閾值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852928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WHO 證實微量 PM2.5 仍與心肺死亡率線性正相關，低濃度對氣喘者依然致命。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2578608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65176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氣喘者直接切換 WHO 嚴格標準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74136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374136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465576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3. 微環境時空異質性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785615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道路峽谷效應與熱源使相距 500m 測值相差數倍，單一大型站不足反映街區微氣候。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0" y="3511296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584448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整合 Civil IoT 微型感測雙層感知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06824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306824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398264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4. 大氣動力學非線性主導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718304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空污爆發多因輻射逆溫、混合層高度下壓與靜風，而非排放突然增加。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4443984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517136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特徵工程納入風向量與日夜溫差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239512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239512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330952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5. 前瞻預警重於事後確認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650992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微粒吸入後肺泡氧化傷害不可逆，提早 2h 關窗開清淨機可降 65% 室內暴露峰值。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5376672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12280" y="5449824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主打未來 24h 預測與開窗窗口建議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領域深度研究：三大專業爭論與十個深度問題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Controversies (觀點 A ↔ 觀點 B) · 10 Deep Reasoning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7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486400" cy="4754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⚖️ 三大核心專業爭論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5120640" cy="123444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084832"/>
            <a:ext cx="48463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爭論 1: 微型感測器精度 vs 測站法規代表性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95728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A: 捕捉超局部污染熱點  ↔  B: 高濕水氣易虛高漂移
→ 共識: 經溫濕度 ML 動態校正後作為相對趨勢預警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37560"/>
            <a:ext cx="5120640" cy="123444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410712"/>
            <a:ext cx="48463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爭論 2: 嚴重紅害時應「極限密閉」還是「開窗通風」？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21608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A: 阻絕室外致癌微粒  ↔  B: 長期密閉 CO₂ 破 1800ppm 嗜睡
→ 共識: 依大氣風場調度 10-15 分鐘「脈衝式換氣」+ HEPA 滿載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663440"/>
            <a:ext cx="5120640" cy="123444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36592"/>
            <a:ext cx="48463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爭論 3: 採用 WHO 嚴格標準 vs 漸進式國家標準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47488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A: 捍衛健康人權揭露危害 ↔ B: 硬套引發常態違規與警報疲勞
→ 共識: 法規採階梯達標，Agent 個人諮詢如實揭露 WHO 分級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463040"/>
            <a:ext cx="5394960" cy="4754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6002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🧠 十大深度理解問題 (推理層次覆蓋)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011680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Why / 大氣光化學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：夏季萬里無雲、PM2.5 僅 8μg/m³，為何體育課需緊急中止？ (O₃ 臭氧二次光化反應)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679192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What-if / 逆溫層物理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：清晨風速 0.3m/s 伴隨輻射逆溫，對通勤排放有何致命後果？ (混合層下壓壓制對流)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346704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Trade-off / 微環境平衡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：室外 PM2.5 85μg/m³ 且室內 CO₂ 達 1700ppm，如何權衡？ (短暫縫隙對流 + 清淨機全速)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014216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Failure Case / 感測失效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：雨天微型空氣盒子回報 110μg/m³ 但標準站僅 18，物理成因何在？ (微粒吸水潮解散射激增)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681728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Design / 數據洩漏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：預測模型為何嚴禁 Random K-Fold 切分？ (時序強自相關性造成 Data Leakage 虛假高分)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5349240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Evidence / 生理劑量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：為何 PM2.5 35μg/m³ 慢跑 1h 吸入量等同 2 支二手煙？ (換氣量增 8 倍且口呼吸失去鼻腔過濾)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提出方案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— 具備環境醫學專業能力的 Domain AI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8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5440680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🤖  AI Agent (ReAct)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5856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LangGraph 狀態機，解析自然語言意圖、動態調度 4 大工具組，支援反思護欄機制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0020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600200"/>
            <a:ext cx="544068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78308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📚  Domain Knowledge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25856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WHO 2021 指引、台灣 AQI 臨床防護規範、各級口罩過濾手冊向量知識庫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52044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520440"/>
            <a:ext cx="5440680" cy="640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033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📈  Data 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7880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XGBoost + LSTM 時序回歸，SHAP 解釋風速、溫濕度與逆溫層影響因子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52044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520440"/>
            <a:ext cx="5440680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7033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🌏  Real-World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17880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敏感族群個人化健康防護處方、戶外活動安全時段推薦、智慧通風指引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486400"/>
            <a:ext cx="11064240" cy="685800"/>
          </a:xfrm>
          <a:prstGeom prst="roundRect">
            <a:avLst/>
          </a:prstGeom>
          <a:solidFill>
            <a:srgbClr val="1E2B4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532120"/>
            <a:ext cx="1069848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核心原則: 每一則建議都附上「測站來源 + 預測信心 + 醫學指引出處」，拒絕偽建議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Agent 設計 Agent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Role · Tools · Decision Logic · 暴露劑量矩陣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9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4206240" cy="461772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3840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🩺 Agent 角色 (System Prompt)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384048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結合大氣科學與環境醫學的專業顧問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必須先用工具取得數據，禁止憑空猜測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醫療建議必須 100% 引用知識庫出處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敏感族群自動啟用嚴格 WHO 2021 門檻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結尾強制附上醫療免責聲明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06240"/>
            <a:ext cx="3840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🧠 決策推理核心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17720"/>
            <a:ext cx="384048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1. 實體辨識: 時間、地點、活動強度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2. 個人健康檔案比對 (氣喘/長者/一般)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3. 時態路由: 即時觀測 vs ML 預測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4. 暴露評估: 濃度 × 運動換氣係數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5. RAG 檢索臨床對策 → 護欄驗證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0" y="1554480"/>
          <a:ext cx="658368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234440"/>
                <a:gridCol w="2011680"/>
                <a:gridCol w="1645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Tool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輸入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輸出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資料來源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get_realtime_aq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location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PM2.5、O₃、AQI、測站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環境部 OpenAPI / Civil IoT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get_weather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location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溫濕度、風向風速、雨量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中央氣象署 OpenAPI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forecast_pm25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station, horizon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24h 預測值、信賴區間、SHAP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XGBoost / LSTM 引擎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search_health_kb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risk, condition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Top-k 處方段落 + 文獻出處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ChromaDB 向量庫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get_user_profile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user_id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年齡、慢性病史、活動偏好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SQLite 本機庫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0" y="5120640"/>
          <a:ext cx="658368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43000"/>
                <a:gridCol w="1143000"/>
                <a:gridCol w="1143000"/>
                <a:gridCol w="11430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族群分類 (PM2.5 μg/m³)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🟢 低風險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🟡 中風險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🟠 高風險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🔴 極高風險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一般民眾 (標準 AQI)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≤ 30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31–50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51–70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&gt; 70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敏感族群 (WHO 2021 對齊)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≤ 15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16–30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31–50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&gt; 50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系統架構 Architecture (8 大模組編號)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① User ──&gt; ② Input ──&gt; ③ Agent ──&gt; ④ Data ──&gt; ⑤ ML ──&gt; ⑥ KB ──&gt; ⑦ Decision ──&gt; ⑧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10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1064240" cy="4754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54480"/>
            <a:ext cx="872363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處理流程 Flowchart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完整輸入、條件分支、例外補償與護欄反思迴圈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11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4206240" cy="48006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3815705" cy="47091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0" y="1417320"/>
            <a:ext cx="6583680" cy="4800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554480"/>
            <a:ext cx="6126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📍 推理實例: 氣喘跑者明早運動諮詢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103120"/>
            <a:ext cx="612648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1  解析意圖: 大安森林公園 · 明早 07:00 · 跑步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  健康檔案: 氣喘病史 → 自動採用 WHO 嚴格門檻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3  時態判定為未來 → 調用 forecast_pm25 工具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     預測 PM2.5 = 38 μg/m³ (SHAP: 夜間輻射逆溫滯留主導)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4  計算暴露量: 38 × 1.8 (跑步換氣係數) = 68.4 → 🔴 極高風險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5  RAG 檢索: WHO 2021 指南與胸腔醫學會氣喘運動處方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6  Guardrail 驗證: 確認包含數據測站與文獻標註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輸出處方:「強烈建議取消戶外跑步改為室內運動；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     預估上午 10 點逆溫打破後好轉，外出請配戴 N95。」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     [依據: 台灣環境部古亭站預測 / WHO 2021 Air Guidelines]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核心演算法 Pseudocode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Algorithm 1 — AI Air Doctor Agent 推理與安全護欄管線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4800600"/>
          </a:xfrm>
          <a:prstGeom prst="roundRect">
            <a:avLst/>
          </a:prstGeom>
          <a:solidFill>
            <a:srgbClr val="020617"/>
          </a:solidFill>
          <a:ln w="19050">
            <a:solidFill>
              <a:srgbClr val="1E2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08760"/>
            <a:ext cx="10607040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Algorithm 1: AI Air Doctor Reasoning and Advisory Pipeline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Input : User query string Q, User profile record U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Output: Verified advisory report R, Risk level score S, Citation list C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01: (location, target_time, activity) ← LLM_EntityExtractor(Q)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02: user_group ← U.medical_condition ;  activity_weight ← LookupActivityFactor(activity)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03: if target_time ≤ CurrentTimestamp() + 1h then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04:     raw_aq ← Tool_FetchRealtimeAQ(location) ;  raw_wx ← Tool_FetchRealtimeWeather(location)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05:     pm25_val ← CalibrateMicroSensor(raw_aq, raw_wx.humidity).pm25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06:     shap_explanations ← "Direct Real-time Observation"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07: else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08:     features ← BuildLagAndMeteoFeatures(location, horizon=target_time)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09:     pm25_val ← Tool_RunForecastModel(features) ;  shap_explanations ← Tool_RunSHAPExplainer(features)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10: end if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11: effective_dose ← pm25_val * activity_weight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12: S ← ComputeRiskLevel(effective_dose, threshold=GetDynamicThreshold(user_group))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13: knowledge_docs ← Tool_RAGSearch(query=activity, condition=user_group, risk=S, top_k=3)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14: R_candidate ← LLM_Synthesize(Q, pm25_val, S, shap_explanations, knowledge_docs, U)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15: if CheckEvidenceGuardrail(R_candidate, knowledge_docs) is False then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16:     R_candidate ← LLM_SelfRefine(R_candidate, knowledge_docs, mode="strict_citations")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17: end if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18: return FormatResponseWithDisclaimers(R_candidate), S, ExtractSourceMetadata(knowledge_docs)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資料來源與預測模型 Data &amp; ML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100% 台灣官方開放資料 · 民生公共物聯網 · 可解釋時序預測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64008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017520"/>
                <a:gridCol w="13716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資料來源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核心特徵欄位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更新頻率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環境部標準測站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PM2.5、PM10、O₃、NO₂、SO₂、AQI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每小時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民生公共物聯網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社區空氣盒子 PM2.5、溫濕度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~5 分鐘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中央氣象署開放台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氣溫、相對濕度、風向、風速、雨量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每小時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自建 ESP32 (選做)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PMS5003 + SHT31 室內微粒感測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每分鐘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223760" y="1508760"/>
            <a:ext cx="4389120" cy="28346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0" y="1508760"/>
            <a:ext cx="4389120" cy="640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1691639"/>
            <a:ext cx="4023359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Algorithm 2 · 時序特徵與模型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167128"/>
            <a:ext cx="4023359" cy="2057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資料跨度: 2022–2025 年逐時資料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補值機制: 時空 KNN 反距離加權補值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特徵工程: Lag 1–24h、風向量分解(u, v)、日夜溫差逆溫指標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資料切分: 嚴格 Time-Series Split (2025 為盲測集)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預測模型: XGBoost + LSTM 雙軌，SHAP 歸因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72000"/>
            <a:ext cx="11064240" cy="16002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572000"/>
            <a:ext cx="11064240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系統技術選型架構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30368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LLM: Gemini 1.5 Pro / GPT-4o   ·   Agent 框架: LangGraph   ·   時序 ML: XGBoost、PyTorch、SHAP   ·   向量資料庫: ChromaDB   ·   後端服務: FastAPI   ·   前端交付: Streamlit 儀表板 / LINE Bot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實驗設計與預期成果 Experiments &amp; Expected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14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2468880"/>
                <a:gridCol w="2468880"/>
                <a:gridCol w="24688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實驗編號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測試項目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對比基準 (Baseline)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評估指標 (Metrics)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預期達成目標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E1 數值預測效能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24h PM2.5 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Persistence (恆常) / 線性回歸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MAE, RMSE, R² (1h/6h/24h)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RMSE 降低 35% 以上，6h R² ≥ 0.82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E2 醫療處方正確性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 組醫師審定情境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 GPT-4o / 無時序 RAG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醫學指引對齊率、幻覺率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幻覺率 ≤ 3%，指引對齊率 ≥ 95%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E3 成因可解釋性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 場歷史紅害事件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 SHAP 之純文字預測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專家成因歸因評分 (1–5)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大氣成因吻合度 ≥ 4.5 分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E4 系統可用性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 次連續併發請求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傳統多層雲端架構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端到端延遲、SUS 滿意度問卷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延遲 ≤ 4.2s，SUS 分數 ≥ 80 分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34340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🎯 Expected Findings (嚴格依據作業規範，不虛構實驗數據)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46320"/>
            <a:ext cx="3566160" cy="1325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32004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24h PM2.5 預測誤差明顯低於 Persistence Baseline，捕捉逆溫驟增能力顯著提升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0248" y="4846320"/>
            <a:ext cx="3566160" cy="1325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4937760"/>
            <a:ext cx="32004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Agent 建議正確性與可引用依據達 95% 以上，有效消弭醫療偏方幻覺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4846320"/>
            <a:ext cx="3566160" cy="1325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4937760"/>
            <a:ext cx="32004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能針對氣喘、孕幼等敏感族群精準換算個人暴露量，提供可執行的生活防護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時程規劃與交接規範 Timeline &amp; Handover Package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15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10515600" cy="73152"/>
          </a:xfrm>
          <a:prstGeom prst="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200" y="283464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W1–2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Proposal 提案
文獻 · API 串接</a:t>
            </a:r>
          </a:p>
        </p:txBody>
      </p:sp>
      <p:sp>
        <p:nvSpPr>
          <p:cNvPr id="12" name="Oval 11"/>
          <p:cNvSpPr/>
          <p:nvPr/>
        </p:nvSpPr>
        <p:spPr>
          <a:xfrm>
            <a:off x="3977639" y="2834640"/>
            <a:ext cx="502920" cy="50292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W3–4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特徵工程
預測模型訓練</a:t>
            </a:r>
          </a:p>
        </p:txBody>
      </p:sp>
      <p:sp>
        <p:nvSpPr>
          <p:cNvPr id="16" name="Oval 15"/>
          <p:cNvSpPr/>
          <p:nvPr/>
        </p:nvSpPr>
        <p:spPr>
          <a:xfrm>
            <a:off x="6355080" y="283464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W5–6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知識庫 RAG
Agent 工具開發</a:t>
            </a:r>
          </a:p>
        </p:txBody>
      </p:sp>
      <p:sp>
        <p:nvSpPr>
          <p:cNvPr id="20" name="Oval 19"/>
          <p:cNvSpPr/>
          <p:nvPr/>
        </p:nvSpPr>
        <p:spPr>
          <a:xfrm>
            <a:off x="8732520" y="2834640"/>
            <a:ext cx="502920" cy="50292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W7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前端 UI 整合
Streamlit / LINE</a:t>
            </a:r>
          </a:p>
        </p:txBody>
      </p:sp>
      <p:sp>
        <p:nvSpPr>
          <p:cNvPr id="24" name="Oval 23"/>
          <p:cNvSpPr/>
          <p:nvPr/>
        </p:nvSpPr>
        <p:spPr>
          <a:xfrm>
            <a:off x="11109960" y="2834640"/>
            <a:ext cx="502920" cy="50292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7171"/>
                </a:solidFill>
                <a:latin typeface="Microsoft JhengHei"/>
                <a:ea typeface="Microsoft JhengHei"/>
                <a:cs typeface="Microsoft JhengHei"/>
              </a:rPr>
              <a:t>W8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3272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四大實驗評估
期末移交與展示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349240"/>
            <a:ext cx="10515600" cy="822960"/>
          </a:xfrm>
          <a:prstGeom prst="roundRect">
            <a:avLst/>
          </a:prstGeom>
          <a:solidFill>
            <a:srgbClr val="1E2B4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440680"/>
            <a:ext cx="101498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📦 Final Handover 標準: GitHub + README.md + DESIGN.md 完整維護，確保即使原開發者不在，下一位開發者仍能透過文件理解、執行、驗證並繼續開發此專題。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參考文獻 References (2025–2026 前沿研究)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16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728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[1] Health Effects Institute (2025). State of Global Air 2025. Boston, MA: HEI.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[2] WHO (2021). WHO Global Air Quality Guidelines: Particulate Matter, Ozone, NO2. Geneva: WHO.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[3] 中華民國環境部 (MOENV) (2025). 空氣品質監測網開放資料平台. data.moenv.gov.tw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[4][5] 國科會與環境部 (2025). 民生公共物聯網 (Civil IoT Taiwan) 資料服務平台. ci.taiwan.gov.tw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[6] 交通部中央氣象署 (CWA) (2025). 氣象資料開放平臺 API 規範. opendata.cwa.gov.tw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[7] Yao, S. et al. (2023). ReAct: Synergizing Reasoning and Acting in Language Models. ICLR 2023.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[8] Lewis, P. et al. (2020). Retrieval-Augmented Generation for Knowledge-Intensive NLP Tasks. NeurIPS 2020.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[9] Zhang, W. et al. (2025). Instructor-Worker LLM System for Air Quality Policy Recommendation. arXiv.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[10] Lin, H. &amp; Wang, Y. (2025). LLM-enhanced Air Quality Monitoring Interface via MCP. arXiv.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[11] Huang, K. C. &amp; Tseng, C. H. (2025). High-resolution PM2.5 forecasting over complex terrain. Atmos. Environ.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[12] Chang, Y. T. &amp; Kuo, P. H. (2025). Extreme air pollution event forecasting via TFT. Environ. Model. Softw.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[13] Chen &amp; Guestrin (2016). XGBoost. KDD.    [14] Lundberg &amp; Lee (2017). SHAP. NeurIPS.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[15] Patel, R. &amp; Kumar, S. (2025). Multi-agent framework for real-time AQI monitoring. PerIoT 2025.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Thank you! 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