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114800" cy="41148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3291840"/>
            <a:ext cx="2926080" cy="2926080"/>
          </a:xfrm>
          <a:prstGeom prst="ellipse">
            <a:avLst/>
          </a:prstGeom>
          <a:solidFill>
            <a:srgbClr val="A78BF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4480560"/>
            <a:ext cx="1463040" cy="1463040"/>
          </a:xfrm>
          <a:prstGeom prst="ellipse">
            <a:avLst/>
          </a:prstGeom>
          <a:solidFill>
            <a:srgbClr val="34D399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FINAL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91440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AI Air 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結合 IoT 空品數據與環境醫學知識的
個人化空氣品質健康代理人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5196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Agent  +  Domain Knowledge  +  Data Analytics  +  Real-World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組員:________、________、________、________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課程:IoT ________    指導老師:________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研究動機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空氣污染是全球第二大早逝風險因子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790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2023 年全球
空污致死人數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A78BFA"/>
                </a:solidFill>
                <a:latin typeface="Microsoft JhengHei"/>
                <a:ea typeface="Microsoft JhengHei"/>
                <a:cs typeface="Microsoft JhengHei"/>
              </a:rPr>
              <a:t>1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全球每 8 位死者
就有 1 位與空污有關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BBF24"/>
                </a:solidFill>
                <a:latin typeface="Microsoft JhengHei"/>
                <a:ea typeface="Microsoft JhengHei"/>
                <a:cs typeface="Microsoft JhengHei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空污死亡來自心臟病、
中風、COPD 等慢性病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002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78308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87171"/>
                </a:solidFill>
                <a:latin typeface="Microsoft JhengHei"/>
                <a:ea typeface="Microsoft JhengHei"/>
                <a:cs typeface="Microsoft JhengHei"/>
              </a:rPr>
              <a:t>No.2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2788920"/>
            <a:ext cx="22860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僅次於高血壓的
第二大早逝風險因子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資料來源:Health Effects Institute, State of Global Air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8000"/>
            </a:avLst>
          </a:prstGeom>
          <a:solidFill>
            <a:srgbClr val="1E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4241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台灣情境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西半部受工業、交通排放與秋冬東北季風帶來的境外污染影響,中南部常出現 PM2.5 紅色警戒;氣喘患者、長者、孕婦與兒童等敏感族群首當其衝。【待補:2025–2026 台灣空污新聞/統計】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問題定義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民眾真正想問的,不是「AQI 多少」,而是「我該怎麼做」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E2B42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Microsoft JhengHei"/>
                <a:ea typeface="Microsoft JhengHei"/>
                <a:cs typeface="Microsoft JhengHei"/>
              </a:rPr>
              <a:t>💬 使用者提問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「我有氣喘,明天早上 7 點
想去大安森林公園跑步,可以嗎?」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回答這個問題,需要同時具備: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120640" cy="475488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73152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① 即時 / 預測空品數據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61688"/>
            <a:ext cx="5120640" cy="475488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361688"/>
            <a:ext cx="73152" cy="4754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07408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② 氣象條件(風、濕度、雨)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28616"/>
            <a:ext cx="5120640" cy="475488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28616"/>
            <a:ext cx="73152" cy="4754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74336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③ 個人健康狀況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95544"/>
            <a:ext cx="5120640" cy="475488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495544"/>
            <a:ext cx="73152" cy="47548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41264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④ 環境醫學知識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1600200"/>
          <a:ext cx="534923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691640"/>
                <a:gridCol w="1874519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現有方案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能做到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做不到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空品 App
(環境即時通)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顯示即時數值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 個人化建議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PM2.5 預測研究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預測未來濃度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 民眾難以理解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 LLM
(ChatGPT)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自然語言對話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 無即時數據、幻覺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近期空品 Agent 研究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+ 資料分析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BBF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 偏政策、少個人化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文獻回顧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½ AI Technology + ½ Domain Know-how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876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31520"/>
                <a:gridCol w="2560320"/>
                <a:gridCol w="2743200"/>
                <a:gridCol w="2560320"/>
                <a:gridCol w="18288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Ref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Year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Problem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Method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Findings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Limitation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[9]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野火期間空品分析與政策建議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Instructor-Worker 多代理人 LLM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自動取得、分析資料並產生政策建議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偏政策層面,無個人化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[10]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感測數據民眾難以理解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+ Model Context Protocol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把原始數據轉成可行動回饋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未包含預測模型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[15]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即時 AQI 監測與健康建議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多代理人(收集/預測/健康/溝通)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提供主動式建議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【待查證】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[11]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台灣 PM2.5 預測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LSTM / Transformer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【待補】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只輸出數字,無決策建議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[12]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極端高污染事件預測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Transformer + 重採樣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改善高濃度預測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【待補】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7492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5394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AI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33288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LSTM / Transformer 時序預測 · XGBoost · SHAP 可解釋 · ReAct Agent ·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7492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5074920"/>
            <a:ext cx="539496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Domain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733288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WHO 2021 指引 · 台灣 AQI 六級 · PM2.5 健康影響 · 季風與逆溫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研究缺口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Existing Research → Limitations → Research Gap → 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600200"/>
            <a:ext cx="2743200" cy="685800"/>
          </a:xfrm>
          <a:prstGeom prst="homePlat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Existing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PM2.5 預測模型
LLM 空品代理人</a:t>
            </a:r>
          </a:p>
        </p:txBody>
      </p:sp>
      <p:sp>
        <p:nvSpPr>
          <p:cNvPr id="9" name="Chevron 8"/>
          <p:cNvSpPr/>
          <p:nvPr/>
        </p:nvSpPr>
        <p:spPr>
          <a:xfrm>
            <a:off x="3383280" y="1600200"/>
            <a:ext cx="2743200" cy="685800"/>
          </a:xfrm>
          <a:prstGeom prst="chevron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預測只輸出數字
Agent 偏政策、少個人化</a:t>
            </a:r>
          </a:p>
        </p:txBody>
      </p:sp>
      <p:sp>
        <p:nvSpPr>
          <p:cNvPr id="11" name="Chevron 10"/>
          <p:cNvSpPr/>
          <p:nvPr/>
        </p:nvSpPr>
        <p:spPr>
          <a:xfrm>
            <a:off x="6217920" y="1600200"/>
            <a:ext cx="2743200" cy="685800"/>
          </a:xfrm>
          <a:prstGeom prst="chevron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42316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缺少整合 IoT + 預測 +
醫學知識 + 個人檔案的 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9052560" y="1600200"/>
            <a:ext cx="2743200" cy="685800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Our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2316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AI Air Doctor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52044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828800"/>
                <a:gridCol w="1737360"/>
                <a:gridCol w="173736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能力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空品 App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PM2.5 預測研究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 LLM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近期空品 Agent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Air Doctor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即時 IoT 數據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24h 污染預測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BBF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環境醫學知識 (RAG)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BBF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 可能幻覺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BBF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個人健康檔案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BBF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有依據的自然語言建議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717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D39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提出方案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— 具備環境醫學專業能力的 Domain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4068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🤖 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74920" cy="960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LLM (ReAct) 理解需求、規劃步驟、自主呼叫 5 個工具並整合推理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44068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📚  Domain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58568"/>
            <a:ext cx="5074920" cy="960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WHO 2021 指引、台灣 AQI 健康建議、污染物健康影響、敏感族群定義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544068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BBF24"/>
                </a:solidFill>
                <a:latin typeface="Microsoft JhengHei"/>
                <a:ea typeface="Microsoft JhengHei"/>
                <a:cs typeface="Microsoft JhengHei"/>
              </a:rPr>
              <a:t>📈  Data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78808"/>
            <a:ext cx="5074920" cy="960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XGBoost / LSTM 預測 24h PM2.5,SHAP 解釋風速、濕度等影響因子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2044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20440"/>
            <a:ext cx="54406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03320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A78BFA"/>
                </a:solidFill>
                <a:latin typeface="Microsoft JhengHei"/>
                <a:ea typeface="Microsoft JhengHei"/>
                <a:cs typeface="Microsoft JhengHei"/>
              </a:rPr>
              <a:t>🌏  Real-World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78808"/>
            <a:ext cx="5074920" cy="960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敏感族群健康防護、戶外活動規劃、高污染主動提醒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E2B4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核心價值:每一則建議都附上「數據來源 + 預測信心 + 知識出處」,降低 LLM 幻覺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Agent 設計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Role · Tools · 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4206240" cy="46177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8404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🩺 Agent 角色 (System 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84048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結合大氣科學與環境醫學的空品健康顧問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必須先用工具取得數據,不可猜測數值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健康建議必須引用知識庫來源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對敏感族群採較嚴格標準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結尾附上免責聲明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38404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🧠 決策邏輯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38404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1. 解析意圖(地點/時間/活動)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2. 判斷族群 → 選擇風險門檻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3. 即時數據 or 預測模型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4. 風險 = PM2.5 × 活動係數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5. RAG 檢索 → 生成 → 檢查引用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0" y="1554480"/>
          <a:ext cx="65836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2011680"/>
                <a:gridCol w="1645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輸入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get_realtime_aq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location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PM2.5、O₃、AQI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環境部 / Civil IoT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get_weather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location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溫溼度、風速風向、雨量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中央氣象署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forecast_pm25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station, time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預測值、信心、主因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XGBoost/LSTM+SHAP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search_health_kb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risk, group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Top-k 建議 + 出處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ChromaDB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get_user_profile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user_id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年齡、疾病、懷孕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SQLite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0" y="5120640"/>
          <a:ext cx="658368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族群 (PM2.5 μg/m³)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🟢 低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🟡 中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🟠 高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🔴 極高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一般民眾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≤30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31–50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51–70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&gt;70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敏感族群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≤15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16–30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31–50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&gt;50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系統架構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User → LLM Agent → Tools → Data Sources → Personalized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4754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893104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系統流程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從提問到有依據的建議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206240" cy="4800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3576767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0" y="1417320"/>
            <a:ext cx="6583680" cy="4800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554480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📍 範例:氣喘患者明早晨跑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03120"/>
            <a:ext cx="61264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1  意圖:大安區 · 明早 07:00 · 跑步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2  檔案:氣喘 → 敏感族群門檻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3  未來時段 → 執行預測模型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     預測 PM2.5 = 38 μg/m³(主因:低風速、高濕度)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4  風險 = 38 × 1.5(跑步)= 57 → 🔴 極高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5  RAG 檢索:WHO 指引、AQI 敏感族群建議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6  生成回答並檢查引用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💡 「建議改到室內運動,或延到下午風速增強後再出門;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     若外出請配戴 N95,並隨身攜帶吸入劑。」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     (數值為示意)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虛擬碼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Algorithm 1 — AI Air Doctor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480060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9050">
            <a:solidFill>
              <a:srgbClr val="1E2B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Input : user_query q, user_id u      Output: advice A, risk_level, sources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1: profile ← GetUserProfile(u)                 // 疾病、年齡、懷孕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2: intent  ← LLM.Parse(q)                      // location, time, activity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3: station ← NearestStation(intent.location)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4: if intent.time ≤ now + 1h then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5:     pm ← GetRealtimeAQ(station).pm25 ;  wx ← GetWeather(station)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6: else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7:     X ← BuildFeatures(station, last 24h AQ + weather)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8:     pm, conf ← ForecastModel.Predict(X, intent.time)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 9:     factors ← SHAP.Explain(X)               // 主要影響因子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10: end if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11: θ    ← Thresholds(profile.group)            // 一般 / 敏感族群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12: risk ← RiskLevel(pm × ActivityFactor(intent.activity), θ)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13: docs ← RAG.Retrieve(risk, profile, intent.activity, top_k = 3)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14: A    ← LLM.Generate(q, pm, risk, factors, docs, profile)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15: if not HasCitations(A, docs) then A ← LLM.Regenerate("cite sources")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16: return A, risk, sources(docs, station)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資料與預測模型 Data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全部使用台灣官方開放資料 · 民生公共物聯網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8760"/>
          <a:ext cx="6400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1371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頻率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環境部空品測站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PM2.5、PM10、O₃、NO₂、AQI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每小時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民生公共物聯網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微型感測器 PM2.5、溫溼度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~5 分鐘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中央氣象署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溫度、濕度、風速風向、雨量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每小時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自建感測器(選做)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 + PMS5003 + DHT22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每分鐘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1508760"/>
            <a:ext cx="4389120" cy="28346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508760"/>
            <a:ext cx="438912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691639"/>
            <a:ext cx="402335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BBF24"/>
                </a:solidFill>
                <a:latin typeface="Microsoft JhengHei"/>
                <a:ea typeface="Microsoft JhengHei"/>
                <a:cs typeface="Microsoft JhengHei"/>
              </a:rPr>
              <a:t>Algorithm 2 · 預測模型訓練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67128"/>
            <a:ext cx="4023359" cy="2057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資料:2022–2025 逐時資料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補值:KNN Imputation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特徵:lag 1–24h、移動平均、時間、風向量、溫溼度、雨量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切分:2022–24 訓練 / 2025 測試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• 模型:Persistence / XGBoost / LSTM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106424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技術選型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30368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LLM: Gemini / GPT / Llama 3   ·   Agent: LangGraph   ·   ML: XGBoost、PyTorch、SHAP   ·   Vector DB: ChromaDB   ·   Backend: FastAPI   ·   Frontend: Streamlit / LINE Bot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實驗設計與預期成果 Experiments &amp; Expected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749039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評估指標</a:t>
                      </a:r>
                    </a:p>
                  </a:txBody>
                  <a:tcPr marL="73152" marR="73152" anchor="ctr">
                    <a:solidFill>
                      <a:srgbClr val="0E749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E1 預測準確度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Persistence vs. XGBoost vs. LSTM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MAE、RMSE、R²(1h / 6h / 24h)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E2 Agent 回答品質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Air Doctor vs. 一般 LLM,同一組 30 題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正確性、依據完整度、幻覺率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E3 Case Study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氣喘患者 · 晨跑者 · 孕婦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建議合理性、個人化程度</a:t>
                      </a:r>
                    </a:p>
                  </a:txBody>
                  <a:tcPr marL="73152" marR="73152" anchor="ctr">
                    <a:solidFill>
                      <a:srgbClr val="1520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E4 使用者測試(選做)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 位使用者試用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8FAF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SUS 易用性、滿意度</a:t>
                      </a:r>
                    </a:p>
                  </a:txBody>
                  <a:tcPr marL="73152" marR="73152" anchor="ctr">
                    <a:solidFill>
                      <a:srgbClr val="1E2B4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434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🎯 Expected Findings(預期成果,非實驗結果)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32004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24h PM2.5 預測誤差明顯低於 Persistence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48463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4937760"/>
            <a:ext cx="32004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Agent 建議正確性與引用依據比例高於一般 LLM,幻覺率下降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48463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4937760"/>
            <a:ext cx="32004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能為敏感族群提供可行動的個人化防護建議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時程規劃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10515600" cy="73152"/>
          </a:xfrm>
          <a:prstGeom prst="rect">
            <a:avLst/>
          </a:prstGeom>
          <a:solidFill>
            <a:srgbClr val="1E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301752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03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W1–2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9202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Proposal
文獻 · API 串接</a:t>
            </a:r>
          </a:p>
        </p:txBody>
      </p:sp>
      <p:sp>
        <p:nvSpPr>
          <p:cNvPr id="11" name="Oval 10"/>
          <p:cNvSpPr/>
          <p:nvPr/>
        </p:nvSpPr>
        <p:spPr>
          <a:xfrm>
            <a:off x="3977639" y="30175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2103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34D399"/>
                </a:solidFill>
                <a:latin typeface="Microsoft JhengHei"/>
                <a:ea typeface="Microsoft JhengHei"/>
                <a:cs typeface="Microsoft JhengHei"/>
              </a:rPr>
              <a:t>W3–4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931920"/>
            <a:ext cx="19202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資料前處理
預測模型訓練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301752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286000"/>
            <a:ext cx="2103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FBBF24"/>
                </a:solidFill>
                <a:latin typeface="Microsoft JhengHei"/>
                <a:ea typeface="Microsoft JhengHei"/>
                <a:cs typeface="Microsoft JhengHei"/>
              </a:rPr>
              <a:t>W5–6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8404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3931920"/>
            <a:ext cx="19202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知識庫建立
Agent 工具開發</a:t>
            </a:r>
          </a:p>
        </p:txBody>
      </p:sp>
      <p:sp>
        <p:nvSpPr>
          <p:cNvPr id="19" name="Oval 18"/>
          <p:cNvSpPr/>
          <p:nvPr/>
        </p:nvSpPr>
        <p:spPr>
          <a:xfrm>
            <a:off x="8732520" y="30175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2286000"/>
            <a:ext cx="2103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A78BFA"/>
                </a:solidFill>
                <a:latin typeface="Microsoft JhengHei"/>
                <a:ea typeface="Microsoft JhengHei"/>
                <a:cs typeface="Microsoft JhengHei"/>
              </a:rPr>
              <a:t>W7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8404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931920"/>
            <a:ext cx="19202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前端整合
Streamlit / LINE</a:t>
            </a:r>
          </a:p>
        </p:txBody>
      </p:sp>
      <p:sp>
        <p:nvSpPr>
          <p:cNvPr id="23" name="Oval 22"/>
          <p:cNvSpPr/>
          <p:nvPr/>
        </p:nvSpPr>
        <p:spPr>
          <a:xfrm>
            <a:off x="11109960" y="301752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2286000"/>
            <a:ext cx="2103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F87171"/>
                </a:solidFill>
                <a:latin typeface="Microsoft JhengHei"/>
                <a:ea typeface="Microsoft JhengHei"/>
                <a:cs typeface="Microsoft JhengHei"/>
              </a:rPr>
              <a:t>W8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38404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3931920"/>
            <a:ext cx="19202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實驗評估
期末報告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GitHub Repository + DESIGN.md 從 Proposal 階段開始持續維護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91440" cy="548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參考文獻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</a:rPr>
              <a:t>AI Air Doctor · Final 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[1] Health Effects Institute (2025). State of Global Air 2025.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[2] WHO (2021). WHO Global Air Quality Guidelines.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[3] 環境部 環境資料開放平台 data.moenv.gov.tw    [4][5] 民生公共物聯網 ci.taiwan.gov.tw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[6] 中央氣象署 氣象資料開放平臺 opendata.cwa.gov.tw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[7] Yao, S. et al. (2023). ReAct: Synergizing Reasoning and Acting in Language Models. ICLR.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[8] Lewis, P. et al. (2020). Retrieval-Augmented Generation for Knowledge-Intensive NLP Tasks. NeurIPS.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[9] Instructor-Worker LLM System for Policy Recommendation: LA Wildfires 2025. arXiv.【待查證】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[10] LLM-enhanced Air Quality Monitoring Interface via Model Context Protocol (2025). arXiv.【待查證】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[11][12] 【待補:2025 台灣 PM2.5 預測論文】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[13] Chen &amp; Guestrin (2016). XGBoost. KDD.    [14] Lundberg &amp; Lee (2017). SHAP. NeurIPS.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[15] Multi-Agent Framework for Real-Time AQI Monitoring and Personalized Health Advice (2025).【待查證】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Microsoft JhengHei"/>
                <a:ea typeface="Microsoft JhengHei"/>
                <a:cs typeface="Microsoft JhengHei"/>
              </a:rPr>
              <a:t>Thank you!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